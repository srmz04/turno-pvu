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EB98D-D88E-4346-A2BB-FF4EF5B208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E5175A-6DC3-4F97-BC4B-CFF72EEE27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608EA2-383E-45A2-B095-BB14C42724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dd4100"/>
                </a:solidFill>
                <a:latin typeface="Arial"/>
              </a:rPr>
              <a:t>Pulse para editar el formato del texto de título</a:t>
            </a:r>
            <a:endParaRPr b="0" lang="es-E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21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Pulse para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editar el formato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de texto del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esquema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100" spc="-1" strike="noStrike">
                <a:solidFill>
                  <a:srgbClr val="009bdd"/>
                </a:solidFill>
                <a:latin typeface="Arial"/>
              </a:rPr>
              <a:t>Segundo nivel </a:t>
            </a:r>
            <a:r>
              <a:rPr b="0" lang="es-ES" sz="2100" spc="-1" strike="noStrike">
                <a:solidFill>
                  <a:srgbClr val="009bdd"/>
                </a:solidFill>
                <a:latin typeface="Arial"/>
              </a:rPr>
              <a:t>del esquema</a:t>
            </a:r>
            <a:endParaRPr b="0" lang="es-E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Tercer nivel </a:t>
            </a: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del esquema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Cuarto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nivel del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esquema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Quint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nivel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esque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x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v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u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é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p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v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u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67024E3F-FD9E-4E12-A682-B55229A275B9}" type="slidenum">
              <a:rPr b="0" lang="es-ES" sz="1400" spc="-1" strike="noStrike">
                <a:solidFill>
                  <a:srgbClr val="ffffff"/>
                </a:solidFill>
                <a:latin typeface="Arial"/>
              </a:rPr>
              <a:t>&lt;número&gt;</a:t>
            </a:fld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Pulse para editar el formato del texto de título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Pulse para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editar el formato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de texto del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esquema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100" spc="-1" strike="noStrike">
                <a:solidFill>
                  <a:srgbClr val="009bdd"/>
                </a:solidFill>
                <a:latin typeface="Arial"/>
              </a:rPr>
              <a:t>Segundo nivel </a:t>
            </a:r>
            <a:r>
              <a:rPr b="0" lang="es-ES" sz="2100" spc="-1" strike="noStrike">
                <a:solidFill>
                  <a:srgbClr val="009bdd"/>
                </a:solidFill>
                <a:latin typeface="Arial"/>
              </a:rPr>
              <a:t>del esquema</a:t>
            </a:r>
            <a:endParaRPr b="0" lang="es-E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Tercer nivel </a:t>
            </a: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del esquema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Cuarto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nivel del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esquema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Quint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nivel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del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esque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x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v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u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é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p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t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o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n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i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v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d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l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 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s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q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u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e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m</a:t>
            </a:r>
            <a:r>
              <a:rPr b="0" lang="es-ES" sz="1500" spc="-1" strike="noStrike">
                <a:solidFill>
                  <a:srgbClr val="009bdd"/>
                </a:solidFill>
                <a:latin typeface="Arial"/>
              </a:rPr>
              <a:t>a</a:t>
            </a:r>
            <a:endParaRPr b="0" lang="es-E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Arial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EE42FA3-FB13-4583-919B-6035BD46BBB1}" type="slidenum">
              <a:rPr b="0" lang="es-ES" sz="1400" spc="-1" strike="noStrike">
                <a:solidFill>
                  <a:srgbClr val="ffffff"/>
                </a:solidFill>
                <a:latin typeface="Arial"/>
              </a:rPr>
              <a:t>&lt;número&gt;</a:t>
            </a:fld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5280" y="1064160"/>
            <a:ext cx="97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dd4100"/>
                </a:solidFill>
                <a:latin typeface="Arial"/>
              </a:rPr>
              <a:t>PROPUESTA METODOLÓGICA PARA MONITOREO DE LA VACUNACIÓN CONTRA SARAMPIÓN EN EL ESTADO DE DURANGO  </a:t>
            </a:r>
            <a:endParaRPr b="0" lang="es-ES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RETOS OPERATIVOS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120000" y="1440000"/>
            <a:ext cx="37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Hacinamiento y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sobredemanda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Sin Trazabilidad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de insumos: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Filtrado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ineficiente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80000" y="1800000"/>
            <a:ext cx="414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Incremento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súbito en la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demanda de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servicios de </a:t>
            </a: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inmunización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500000" y="1980000"/>
            <a:ext cx="1260000" cy="12600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39b2e5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B99518-722E-4210-930B-B9DE33A8EE8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PROPUESTA DE MEJORA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ENTREGA DE FICHAS = NUMERO DE DOSIS APLICADAS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MONITOREO DE DOSIS APLICADAS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MONITOREO DE EXISTENCIAS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067A3A-763B-418B-AD64-FDFDD67F0FB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16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2000" spc="-1" strike="noStrike">
                <a:solidFill>
                  <a:srgbClr val="009bdd"/>
                </a:solidFill>
                <a:latin typeface="Arial"/>
              </a:rPr>
              <a:t>Sin validación cruzada con inventario</a:t>
            </a:r>
            <a:endParaRPr b="0" lang="es-ES" sz="20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2000" spc="-1" strike="noStrike">
                <a:solidFill>
                  <a:srgbClr val="009bdd"/>
                </a:solidFill>
                <a:latin typeface="Arial"/>
              </a:rPr>
              <a:t>Sin filtrado por criterios clínicos al ingreso</a:t>
            </a:r>
            <a:endParaRPr b="0" lang="es-ES" sz="20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2000" spc="-1" strike="noStrike">
                <a:solidFill>
                  <a:srgbClr val="009bdd"/>
                </a:solidFill>
                <a:latin typeface="Arial"/>
              </a:rPr>
              <a:t>Sin trazabilidad del biológico aplicado</a:t>
            </a:r>
            <a:endParaRPr b="0" lang="es-ES" sz="20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2000" spc="-1" strike="noStrike">
                <a:solidFill>
                  <a:srgbClr val="009bdd"/>
                </a:solidFill>
                <a:latin typeface="Arial"/>
              </a:rPr>
              <a:t>Solo ordena fila, no gestiona riesgo sanitario </a:t>
            </a:r>
            <a:endParaRPr b="0" lang="es-ES" sz="20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16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Limitaciones </a:t>
            </a:r>
            <a:r>
              <a:rPr b="1" lang="es-ES" sz="2200" spc="-1" strike="noStrike">
                <a:solidFill>
                  <a:srgbClr val="ffffff"/>
                </a:solidFill>
                <a:latin typeface="Arial"/>
              </a:rPr>
              <a:t>del</a:t>
            </a: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 Sistema Manual ("Fichas")</a:t>
            </a:r>
            <a:endParaRPr b="1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9191B5-7B9E-46C3-B89E-2B80B738004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SISTEMA DE TURNOS PARA SARAMPIÓN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1060"/>
              </a:spcBef>
              <a:buNone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Objetivo General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Proveer un sistema digital de control de turnos en los centros de vacunación de mayor afluencia que garantice que cada dosis de biológico disponible se asigne a un menor dentro del rango autorizado, con trazabilidad completa y visibilidad en tiempo real para coordinadores y publico general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38016E-723A-4EA3-B97B-521260BE2E2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SISTEMA DE TURNOS PARA SARAMPIÓN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1060"/>
              </a:spcBef>
              <a:buNone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ObjetivOS ESPECIFICOS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900000" y="1620000"/>
            <a:ext cx="7920000" cy="33768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E9D099-06AD-4395-809A-C6277570AF2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0" y="1080000"/>
            <a:ext cx="270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spcBef>
                <a:spcPts val="1060"/>
              </a:spcBef>
              <a:buNone/>
            </a:pPr>
            <a:r>
              <a:rPr b="1" lang="es-ES" sz="1800" spc="-1" strike="noStrike">
                <a:solidFill>
                  <a:srgbClr val="009bdd"/>
                </a:solidFill>
                <a:latin typeface="Arial"/>
              </a:rPr>
              <a:t>16 DE FEBRERO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COMIENZO DE IMPLEMENTACIÓN HÍBRIDA EN CENTROS DE MAYO AFLUENCIA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01680" y="3133800"/>
            <a:ext cx="9720000" cy="1440000"/>
          </a:xfrm>
          <a:prstGeom prst="rightArrow">
            <a:avLst>
              <a:gd name="adj1" fmla="val 50000"/>
              <a:gd name="adj2" fmla="val 168750"/>
            </a:avLst>
          </a:prstGeom>
          <a:solidFill>
            <a:srgbClr val="ff0000"/>
          </a:solidFill>
          <a:ln w="18000">
            <a:solidFill>
              <a:srgbClr val="009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420000" y="1980000"/>
            <a:ext cx="270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9bdd"/>
                </a:solidFill>
                <a:latin typeface="Arial"/>
              </a:rPr>
              <a:t>17-18 DE FEBRERO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CONSOLIDACION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380000" y="1260000"/>
            <a:ext cx="270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1" lang="es-ES" sz="1800" spc="-1" strike="noStrike">
                <a:solidFill>
                  <a:srgbClr val="009bdd"/>
                </a:solidFill>
                <a:latin typeface="Arial"/>
              </a:rPr>
              <a:t>19 DE FEBRERO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9bdd"/>
                </a:solidFill>
                <a:latin typeface="Arial"/>
              </a:rPr>
              <a:t>MONITOREO EN TIEMPO REAL DE PRINCIPALES CENTROS</a:t>
            </a:r>
            <a:endParaRPr b="0" lang="es-ES" sz="18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758CB5-55E0-432D-BB95-57AF9C09920F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106560"/>
            <a:ext cx="93600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200" spc="-1" strike="noStrike">
                <a:solidFill>
                  <a:srgbClr val="ffffff"/>
                </a:solidFill>
                <a:latin typeface="Arial"/>
              </a:rPr>
              <a:t>Estrategia de Implementación del día lunes 16 de febrero</a:t>
            </a:r>
            <a:br>
              <a:rPr sz="2200"/>
            </a:br>
            <a:endParaRPr b="1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667800" y="1154520"/>
            <a:ext cx="8671320" cy="33429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12EE8-49A8-4367-9CED-11DEF49B64B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9bdd"/>
                </a:solidFill>
                <a:latin typeface="Arial"/>
              </a:rPr>
              <a:t>SE USARÁ LA PLATAFORMA DE REGISTRO RÁPIDO USADA DURANTE OCT-ENE EN MACROCENTROS DE VACUNACIÓN</a:t>
            </a: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510480" y="1805760"/>
            <a:ext cx="9029520" cy="359424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769A7F-E94A-45CA-8160-A03A571BAFA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1600" spc="-1" strike="noStrike">
                <a:solidFill>
                  <a:srgbClr val="ffffff"/>
                </a:solidFill>
                <a:latin typeface="Arial"/>
              </a:rPr>
              <a:t>Flujo Operativo Día 1 (Lunes - Provisional)</a:t>
            </a:r>
            <a:br>
              <a:rPr sz="1600"/>
            </a:br>
            <a:endParaRPr b="1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329120" y="1266840"/>
            <a:ext cx="7008480" cy="3413160"/>
          </a:xfrm>
          <a:prstGeom prst="rect">
            <a:avLst/>
          </a:prstGeom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913A83-8A9B-441D-946B-CF8129E0988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1600" spc="-1" strike="noStrike">
                <a:solidFill>
                  <a:srgbClr val="ffffff"/>
                </a:solidFill>
                <a:latin typeface="Arial"/>
              </a:rPr>
              <a:t>Flujo Operativo Día 1 (Lunes - Provisional)</a:t>
            </a:r>
            <a:br>
              <a:rPr sz="1600"/>
            </a:br>
            <a:endParaRPr b="1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900000" y="1080000"/>
            <a:ext cx="8100000" cy="3686400"/>
          </a:xfrm>
          <a:prstGeom prst="rect">
            <a:avLst/>
          </a:prstGeom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415563-7203-41E9-9AD1-5AD22BC0232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APOYO LOGÍSTICO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375120" y="1681920"/>
            <a:ext cx="8984880" cy="2638080"/>
          </a:xfrm>
          <a:prstGeom prst="rect">
            <a:avLst/>
          </a:prstGeom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67140C-863C-487A-BAB1-481317BC515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7640"/>
            <a:ext cx="9360000" cy="56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s-ES" sz="2000" spc="-1" strike="noStrike">
                <a:solidFill>
                  <a:srgbClr val="ffffff"/>
                </a:solidFill>
                <a:latin typeface="Arial"/>
              </a:rPr>
              <a:t>Roadmap de Implementación Progresiva (0-48 horas)</a:t>
            </a:r>
            <a:br>
              <a:rPr sz="2000"/>
            </a:br>
            <a:endParaRPr b="1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900000" y="720000"/>
            <a:ext cx="8280000" cy="43650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69BBCD-123B-4041-B4E8-90F51398DBD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3300" spc="-1" strike="noStrike">
                <a:solidFill>
                  <a:srgbClr val="ffffff"/>
                </a:solidFill>
                <a:latin typeface="Arial"/>
              </a:rPr>
              <a:t>Narrativa del Flujo (Simulación Operativa)</a:t>
            </a:r>
            <a:endParaRPr b="0" lang="es-E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s-ES" sz="2400" spc="-1" strike="noStrike">
              <a:solidFill>
                <a:srgbClr val="009bdd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900000" y="720000"/>
            <a:ext cx="8438400" cy="43200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778AA1-F67F-40ED-95D2-2A92726A2739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2026-02-14T23:17:56Z</dcterms:created>
  <dc:creator/>
  <dc:description/>
  <dc:language>es-ES</dc:language>
  <cp:lastModifiedBy/>
  <dcterms:modified xsi:type="dcterms:W3CDTF">2026-02-15T01:04:10Z</dcterms:modified>
  <cp:revision>3</cp:revision>
  <dc:subject/>
  <dc:title>Blue Curve</dc:title>
</cp:coreProperties>
</file>